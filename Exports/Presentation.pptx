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94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F2F3B"/>
          </a:solidFill>
          <a:ln/>
        </p:spPr>
      </p:sp>
      <p:pic>
        <p:nvPicPr>
          <p:cNvPr id="3" name="Image 0" descr="/home/claude/work/shiel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685800"/>
            <a:ext cx="2286000" cy="3246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46320" y="13716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PhishGuard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846320" y="23774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Explainable Machine Learning Framework for Real-Time Phishing URL Detection Using Feature Engineering and Ensemble Learning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Dibakar Das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0" y="4114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Lead — ML &amp; Backend Development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0" y="4498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Chanchal Kumari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0" y="4498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Development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46320" y="48828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Indrajit Mondal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72400" y="4882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Development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46320" y="52669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Dipika Maji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0" y="5266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 &amp; Documentation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46320" y="578815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7D6F5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 the Guidance of: Bikash Debnath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Phishing Threat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is a social engineering attack where attackers impersonate trustworthy entities — through fraudulent websites or emails — to steal usernames, passwords, credit card numbers, and personal data. Attackers use character substitution (e.g., “g00gle.com”), subdomain manipulation, URL shortening, and suspicious keywords (“verify,” “secure”) to create false legitimacy.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Reactive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blacklists must first see a threat before blocking it, leaving new campaigns undetected.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01752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Evolving Tactics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techniques continuously evolve, outpacing static, rule-based detection mechanisms.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301752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Massive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accounts for a substantial share of global cybercrime, with billions lost annually.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Critical Gaps in Current Approaches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Reliance on Static Blacklists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like Google Safe Browsing are inherently reactive — a phishing site must first be reported before it can be blocked.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581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Explainability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ML solutions are “black boxes,” providing binary classification without justification, reducing user trust.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 Real-Time Performance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Systems analyzing webpage content or DOM structure introduce latency, unsuitable for real-time browser/API integrations.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33756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False Negative Rates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bypass detection using URL shorteners, homograph attacks, and dynamic subdomains that static systems miss.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5955E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577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Need:  </a:t>
            </a:r>
            <a:pPr indent="0" marL="0">
              <a:buNone/>
            </a:pPr>
            <a:r>
              <a:rPr lang="en-US" sz="120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intelligent, adaptive, explainable phishing URL detection system that classifies URLs in real time — without relying solely on static blacklists — while giving clear, interpretable justifications for every prediction.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Systems &amp; Approaches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475488" cy="475488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Blacklist-Based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Safe Browsing, PhishTank — simple, low-latency, but cannot catch zero-day phishing attacks.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97480"/>
            <a:ext cx="475488" cy="475488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Heuristic-Based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87752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Manually defined rules (e.g., IP-based URLs) — faster but high false positives, constant rule upkeep.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30752"/>
            <a:ext cx="475488" cy="475488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30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2102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62102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Forest, SVM, Gradient Boosting achieve &gt;95% accuracy; ensembles outperform single classifiers.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764024"/>
            <a:ext cx="475488" cy="475488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64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65429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Approaches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654296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CNNs/RNNs/transformers on raw URLs or screenshots — strong accuracy, but resource-heavy and opaque.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418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Gap:  </a:t>
            </a:r>
            <a:pPr indent="0" marL="0">
              <a:buNone/>
            </a:pPr>
            <a:r>
              <a:rPr lang="en-US" sz="11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 existing systems combine feature-engineered ensemble learning, real-time performance, and built-in explainability in one deployable application — PhishGuard aims to bridge that gap.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PhishGuard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6022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60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5087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 robust feature-extraction module deriving 30+ lexical, domain, and content-based features.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921508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9215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267004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and evaluate six classifiers: Random Forest, XGBoost, SVM, Logistic Regression, LightGBM, CatBoost.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082796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0827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3831336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soft-voting ensemble targeting ≥95% detection accuracy.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5244084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2440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4992624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SHAP explainability to communicate the reasoning behind every prediction.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176022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1760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68312" y="15087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Django REST Framework API for real-time single &amp; batch URL classification.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670048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2921508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29215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68312" y="2670048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responsive React frontend with visual, human-readable explanations.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83133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64808" y="4082796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0827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68312" y="3831336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accuracy, precision, recall, F1-score, and latency; document findings comprehensively.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Scope vs. Out of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URL feature extraction (lexical, host, content-based) — no paid third-party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609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Training &amp; evaluation of multiple supervised ML classifiers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Soft-voting ensemble model construction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67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SHAP-based model explainability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47141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REST API for real-time &amp; batch URL checking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React web frontend + MongoDB prediction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67842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Unit, integration &amp; performance testing + full documentation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49495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9672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Browser extension development (future work)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9672" y="2743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Direct email content scanning &amp;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34290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Mobile native application 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4114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Deep packet inspection / network-level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9672" y="48006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Integration with paid threat-intelligence 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9672" y="5486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Real-time crawling beyond basic HTML parsing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Full-Stack, ML-Powered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Single-page app for URL input, real-time results, and detailed SHAP-based explanations.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5955EB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DJANGO REST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Application / Logic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extraction, ensemble model routing, SHAP explanation generation, API validation &amp; error handling.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Persists submitted URLs, features, predictions, confidence scores, model metrics, and audit logs.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9495A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for modularity and scalability — each component (feature extraction, model inference, explainability, presentation) can be independently updated, tested, or replaced without disrupting the pipeline.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459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submits a URL via the React 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48840"/>
            <a:ext cx="0" cy="274320"/>
          </a:xfrm>
          <a:prstGeom prst="line">
            <a:avLst/>
          </a:prstGeom>
          <a:noFill/>
          <a:ln w="25400">
            <a:solidFill>
              <a:srgbClr val="D7D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242316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4231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sends an HTTP POST request to the Django REST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2926080"/>
            <a:ext cx="0" cy="274320"/>
          </a:xfrm>
          <a:prstGeom prst="line">
            <a:avLst/>
          </a:prstGeom>
          <a:noFill/>
          <a:ln w="25400">
            <a:solidFill>
              <a:srgbClr val="D7D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320040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2004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extraction module parses the URL into a 30+ dimensional feature vector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3703320"/>
            <a:ext cx="0" cy="274320"/>
          </a:xfrm>
          <a:prstGeom prst="line">
            <a:avLst/>
          </a:prstGeom>
          <a:noFill/>
          <a:ln w="25400">
            <a:solidFill>
              <a:srgbClr val="D7D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397764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9776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model returns classification + confidence 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" y="4480560"/>
            <a:ext cx="0" cy="274320"/>
          </a:xfrm>
          <a:prstGeom prst="line">
            <a:avLst/>
          </a:prstGeom>
          <a:noFill/>
          <a:ln w="25400">
            <a:solidFill>
              <a:srgbClr val="D7D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475488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27" name="Text 25"/>
          <p:cNvSpPr/>
          <p:nvPr/>
        </p:nvSpPr>
        <p:spPr>
          <a:xfrm>
            <a:off x="1508760" y="47548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 engine computes per-feature contribution values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" y="5257800"/>
            <a:ext cx="0" cy="274320"/>
          </a:xfrm>
          <a:prstGeom prst="line">
            <a:avLst/>
          </a:prstGeom>
          <a:noFill/>
          <a:ln w="25400">
            <a:solidFill>
              <a:srgbClr val="D7D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280160" y="553212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4F3FA"/>
          </a:solidFill>
          <a:ln/>
        </p:spPr>
      </p:sp>
      <p:sp>
        <p:nvSpPr>
          <p:cNvPr id="32" name="Text 30"/>
          <p:cNvSpPr/>
          <p:nvPr/>
        </p:nvSpPr>
        <p:spPr>
          <a:xfrm>
            <a:off x="1508760" y="55321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 stored in MongoDB and rendered with a visual breakdown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30+ Features Across Four Categories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custom extraction module derives 30+ distinct features for each URL, based on patterns observed in phishing literature where attackers obscure malicious intent through URL manipulation.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457200"/>
          </a:xfrm>
          <a:prstGeom prst="rect">
            <a:avLst/>
          </a:prstGeom>
          <a:solidFill>
            <a:srgbClr val="49495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Structure (9)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2514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Length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25146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character count of the URL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91672" cy="457200"/>
          </a:xfrm>
          <a:prstGeom prst="rect">
            <a:avLst/>
          </a:prstGeom>
          <a:solidFill>
            <a:srgbClr val="F4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Structure (9)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 '@' Symbol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Indicates domain-hiding technique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Structure (9)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 IP Address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uses raw IP instead of domain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1091672" cy="457200"/>
          </a:xfrm>
          <a:prstGeom prst="rect">
            <a:avLst/>
          </a:prstGeom>
          <a:solidFill>
            <a:srgbClr val="F4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Domain-Based (4)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3886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Subdomain Count / TLD / SSL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38862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 of subdomains, top-level domain, SSL certificate presence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Content-Based (4)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Presence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43434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Indicates login / credential forms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solidFill>
            <a:srgbClr val="F4F3F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800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(13+)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4800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Shannon Entropy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48006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randomness in the URL string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257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(13+)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5257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Shortener Use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52578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bit.ly, tinyurl, and similar services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solidFill>
            <a:srgbClr val="F4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(13+)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5715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Suspicious Keywords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5715000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“verify,” “secure,” “confirm,” etc.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Six Classifiers, One Soft-Voting Ensemble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Bagging ensemble — handles non-linear feature interactions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XGBoost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 boosting — high accuracy on structured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3736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Kernel-based — effective in high-dimensional space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36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model — interpretable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971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136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LightGBM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 boosting — fast training on large datasets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2971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20040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0" y="3136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CatBoost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3657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 boosting — handles categorical features natively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5955E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Soft-Voting Ensemble + SHAP Explainability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model contributes a probability estimate, averaged for the final prediction (target ≥95% accuracy). SHAP then explains per-feature contribution — e.g., “IP address (35%), long URL (28%), shortener use (20%).”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&amp; System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2103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18, TypeScript, Tailwind CSS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28163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3.9+, Django, DRF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68680" y="352958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23160" y="35295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 8.0+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68680" y="424281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Libraries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42428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scikit-learn, XGBoost, LightGBM, CatBoost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68680" y="49560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23160" y="49560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68680" y="5669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 &amp; VCS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5669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Pytest, Git &amp; GitHub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49495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9672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103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74152" y="2103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 Core i5 or equivalent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19672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74152" y="28163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GB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519672" y="352958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74152" y="35295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GB free space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519672" y="424281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74152" y="42428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10/11, macOS, or Linux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519672" y="49560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Runtime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74152" y="49560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 18+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6519672" y="5669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74152" y="5669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Studio Code (recommended)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 &amp;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Data Collection to Deployment in 4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~10,000 URLs from PhishTank (50/50 phishing / legitimate split)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7556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6334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Deduplication, cleaning; stratified 80/20 train-test split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78308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17556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667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26334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30+ lexical, domain &amp; content-based features per URL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493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2–3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43708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classifiers trained with k-fold cross-validation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343400" y="329184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52044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43400" y="3493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&amp; SHAP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0" y="43708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Soft-voting ensemble + SHAP explainability layer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138160" y="329184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66760" y="3520440"/>
            <a:ext cx="457200" cy="457200"/>
          </a:xfrm>
          <a:prstGeom prst="ellipse">
            <a:avLst/>
          </a:prstGeom>
          <a:solidFill>
            <a:srgbClr val="5955EB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0" y="3493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3–4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API, Frontend &amp; Testing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66760" y="43708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9495A">
                    <a:alpha val="8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Django REST API + React UI; 80% code coverage target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Results, Advantages, Limitations,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Deployable web app at ≥95% accuracy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REST API for third-party integration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Explainable, trust-building predictions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Sub-200ms response time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Advantages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Proactive detection of unseen URLs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92240" y="24414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SHAP explainability for audit &amp; trust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92240" y="285292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Ensemble accuracy reduces false results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492240" y="326440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API-first, modular &amp; scalable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062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59028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Depends on training data diversity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22960" y="50017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WHOIS features limited by API rate limits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822960" y="54132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No deep visual / DOM-based analysis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22960" y="582472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SSL verification may add minor latency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2062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59028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Browser extension for real-time warnings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492240" y="50017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Email content scanning integration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492240" y="54132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Transformer-based URL encoders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6492240" y="582472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Continuous learning &amp; threat dashboard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Bridging the Gap Between Accuracy and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733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≥95%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Detection Accuracy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55848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6733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008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Engineered URL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16733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&lt;200ms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0216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Response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70264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3F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6733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07424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9495A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Predictions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91672" cy="3337560"/>
          </a:xfrm>
          <a:prstGeom prst="roundRect">
            <a:avLst>
              <a:gd name="adj" fmla="val 2192"/>
            </a:avLst>
          </a:prstGeom>
          <a:solidFill>
            <a:srgbClr val="49495A"/>
          </a:solidFill>
          <a:ln/>
          <a:effectLst>
            <a:outerShdw sx="100000" sy="100000" kx="0" ky="0" algn="bl" rotWithShape="0" blurRad="76200" dist="25400" dir="5400000">
              <a:srgbClr val="9B9BB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2788920"/>
            <a:ext cx="2103120" cy="2103120"/>
          </a:xfrm>
          <a:prstGeom prst="ellipse">
            <a:avLst/>
          </a:prstGeom>
          <a:solidFill>
            <a:srgbClr val="5955EB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375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 demonstrates that accuracy and transparency are not competing goals. By pairing a soft-voting ensemble of six classifiers with SHAP-driven explainability, the system delivers predictions that are not only reliable, but understandable — turning a black-box classification into a clear, auditable decision.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as a complete, production-ready full-stack application — React frontend, Django REST API, and MongoDB — PhishGuard shows how rigorous feature engineering, ensemble learning, and explainable AI can come together to meet a real, evolving cybersecurity threat, while giving the team hands-on experience across the entire software development lifecycle.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495A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-1097280"/>
            <a:ext cx="3291840" cy="3291840"/>
          </a:xfrm>
          <a:prstGeom prst="ellipse">
            <a:avLst/>
          </a:prstGeom>
          <a:solidFill>
            <a:srgbClr val="5955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5120640"/>
            <a:ext cx="2194560" cy="2194560"/>
          </a:xfrm>
          <a:prstGeom prst="ellipse">
            <a:avLst/>
          </a:prstGeom>
          <a:solidFill>
            <a:srgbClr val="5955EB">
              <a:alpha val="10000"/>
            </a:srgbClr>
          </a:solidFill>
          <a:ln/>
        </p:spPr>
      </p:sp>
      <p:pic>
        <p:nvPicPr>
          <p:cNvPr id="4" name="Image 0" descr="/home/claude/work/shiel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457200"/>
            <a:ext cx="1737360" cy="246888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58968" y="3127248"/>
            <a:ext cx="1280160" cy="0"/>
          </a:xfrm>
          <a:prstGeom prst="line">
            <a:avLst/>
          </a:prstGeom>
          <a:noFill/>
          <a:ln w="19050">
            <a:solidFill>
              <a:srgbClr val="5955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3375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42245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955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PHISHGUARD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5193792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6F5">
                    <a:alpha val="7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Explainable Machine Learning Framework for Real-Time Phishing URL Detection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135228" y="59893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3D3D4D"/>
          </a:solidFill>
          <a:ln/>
        </p:spPr>
      </p:sp>
      <p:sp>
        <p:nvSpPr>
          <p:cNvPr id="11" name="Text 8"/>
          <p:cNvSpPr/>
          <p:nvPr/>
        </p:nvSpPr>
        <p:spPr>
          <a:xfrm>
            <a:off x="1135228" y="5989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Dibakar 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49828" y="59893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3D3D4D"/>
          </a:solidFill>
          <a:ln/>
        </p:spPr>
      </p:sp>
      <p:sp>
        <p:nvSpPr>
          <p:cNvPr id="13" name="Text 10"/>
          <p:cNvSpPr/>
          <p:nvPr/>
        </p:nvSpPr>
        <p:spPr>
          <a:xfrm>
            <a:off x="3649828" y="5989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Chanchal Kumari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64428" y="59893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3D3D4D"/>
          </a:solidFill>
          <a:ln/>
        </p:spPr>
      </p:sp>
      <p:sp>
        <p:nvSpPr>
          <p:cNvPr id="15" name="Text 12"/>
          <p:cNvSpPr/>
          <p:nvPr/>
        </p:nvSpPr>
        <p:spPr>
          <a:xfrm>
            <a:off x="6164428" y="5989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Indrajit Mondal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79028" y="59893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3D3D4D"/>
          </a:solidFill>
          <a:ln/>
        </p:spPr>
      </p:sp>
      <p:sp>
        <p:nvSpPr>
          <p:cNvPr id="17" name="Text 14"/>
          <p:cNvSpPr/>
          <p:nvPr/>
        </p:nvSpPr>
        <p:spPr>
          <a:xfrm>
            <a:off x="8679028" y="5989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6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Dipika Maji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2026-08-06T08:30:28Z</dcterms:created>
  <dcterms:modified xsi:type="dcterms:W3CDTF">2026-08-06T08:30:28Z</dcterms:modified>
</cp:coreProperties>
</file>